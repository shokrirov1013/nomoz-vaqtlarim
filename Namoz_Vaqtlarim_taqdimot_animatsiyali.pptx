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Kirish" id="{b7338051-a45d-b628-c5f5-5b5c829b6f97}">
          <p14:sldIdLst>
            <p14:sldId id="256"/>
          </p14:sldIdLst>
        </p14:section>
        <p14:section name="Asosiy g'oya" id="{50d8d2bc-ecbe-f579-1278-56ac8f0d5638}">
          <p14:sldIdLst>
            <p14:sldId id="257"/>
          </p14:sldIdLst>
        </p14:section>
        <p14:section name="Imkoniyatlar" id="{dc34b26e-4e0d-0a82-61af-86c7544479b2}">
          <p14:sldIdLst>
            <p14:sldId id="258"/>
          </p14:sldIdLst>
        </p14:section>
        <p14:section name="Eslatma" id="{f1ad5404-f06d-d8f6-8d80-49639fe440b8}">
          <p14:sldIdLst>
            <p14:sldId id="259"/>
          </p14:sldIdLst>
        </p14:section>
        <p14:section name="Aniqlik" id="{93d0f2bd-0dc4-46ed-35f1-67e20cd47cf8}">
          <p14:sldIdLst>
            <p14:sldId id="260"/>
          </p14:sldIdLst>
        </p14:section>
        <p14:section name="Dizayn" id="{18dbe6b6-e931-b4b7-740f-0435f4f5f42c}">
          <p14:sldIdLst>
            <p14:sldId id="261"/>
          </p14:sldIdLst>
        </p14:section>
        <p14:section name="Ishonch" id="{a36c5ca0-bfbb-77bc-6228-ca5adfb567d2}">
          <p14:sldIdLst>
            <p14:sldId id="262"/>
          </p14:sldIdLst>
        </p14:section>
        <p14:section name="Yakun" id="{c92c4fb4-be03-8f29-9932-f934a81ef513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Salom! Bu — Namoz Vaqtlarim: namoz vaqtlarini aniq ko'rsatadigan, yumshoq ovozli eslatma beradigan Android ilovasi. Uni 18 yoshli talaba Shokirov o'z istaklari yo'lida yaratgan.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Uch asosiy fikr: aniq vaqt, muloyim eslatma va tartib. Ilova namozni o'qiganingizni o'zi bilmaydi — faqat siz bosgan «Bajarildi» saqlanadi.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Ilovaning oltita asosiy imkoniyati. Hammasi bitta ilovada, internet bo'lmaganda ham asosiy qismi ishlaydi.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 bir namoz uchun alohida hisoblagich. Telefon qayta yoqilsa, eslatmalar o'zi tiklanadi.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Haqiqatni aytamiz: islom.uz dasturlarga yopiq, shuning uchun ilova muslim.uz bilan sinxronlangan hisobdan foydalanadi. Boshqa shaharlar uchun bu yaqinlashtirish — odatda 1-2 daqiqa ichida.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Dizayn ilova ikonkasiga mos: qorong'i zumrad fon va oltin urg'u. Kattalar uchun kirill yozuvi va katta matn bor.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Ilova serverga hech narsa yubormaydi: ma'lumotlar telefoningizda. Yangilanish — faqat sizning ruxsatingiz bilan, imzosi tekshirilgandan keyin.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Ilova bepul. QR kod yuklab olish sahifasiga olib boradi.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67665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630936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 txBox="1"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Namoz Vaqtlarim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yorug-dog"/>
          <p:cNvSpPr/>
          <p:nvPr/>
        </p:nvSpPr>
        <p:spPr>
          <a:xfrm>
            <a:off x="7315200" y="822960"/>
            <a:ext cx="4572000" cy="457200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011680"/>
            <a:ext cx="676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2"/>
                </a:solidFill>
              </a:rPr>
              <a:t>Namoz Vaqtlarim</a:t>
            </a:r>
            <a:endParaRPr lang="en-US" sz="6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52044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accent3"/>
                </a:solidFill>
              </a:rPr>
              <a:t>Namozni vaqtida o'qing — eslatma o'zi aytadi</a:t>
            </a:r>
            <a:endParaRPr lang="en-US" sz="2400" dirty="0"/>
          </a:p>
        </p:txBody>
      </p:sp>
      <p:pic>
        <p:nvPicPr>
          <p:cNvPr id="5" name="ilova-ikonkasi" descr="Namoz Vaqtlarim ilova ikonkas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1234440"/>
            <a:ext cx="3749040" cy="3749040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pic>
      <p:sp>
        <p:nvSpPr>
          <p:cNvPr id="6" name="muallif"/>
          <p:cNvSpPr txBox="1"/>
          <p:nvPr/>
        </p:nvSpPr>
        <p:spPr>
          <a:xfrm>
            <a:off x="731520" y="58064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Shokirov tomonidan yaratilgan · 18 yoshli talaba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" grpId="0" animBg="1"/>
      <p:bldP spid="4" grpId="0" animBg="1"/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2"/>
                </a:solidFill>
              </a:rPr>
              <a:t>Nega bu ilova kerak</a:t>
            </a:r>
            <a:endParaRPr lang="en-US" sz="3800" dirty="0"/>
          </a:p>
        </p:txBody>
      </p:sp>
      <p:sp>
        <p:nvSpPr>
          <p:cNvPr id="3" name="karta-1"/>
          <p:cNvSpPr/>
          <p:nvPr/>
        </p:nvSpPr>
        <p:spPr>
          <a:xfrm>
            <a:off x="640080" y="1737360"/>
            <a:ext cx="3383280" cy="4023360"/>
          </a:xfrm>
          <a:prstGeom prst="roundRect">
            <a:avLst>
              <a:gd name="adj" fmla="val 4865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4" name="nega-1-doira"/>
          <p:cNvSpPr/>
          <p:nvPr/>
        </p:nvSpPr>
        <p:spPr>
          <a:xfrm>
            <a:off x="1005840" y="21031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nega-1-ikonka" descr="nega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331720"/>
            <a:ext cx="457200" cy="457200"/>
          </a:xfrm>
          <a:prstGeom prst="rect">
            <a:avLst/>
          </a:prstGeom>
        </p:spPr>
      </p:pic>
      <p:sp>
        <p:nvSpPr>
          <p:cNvPr id="6" name="sarlavha-1"/>
          <p:cNvSpPr txBox="1"/>
          <p:nvPr/>
        </p:nvSpPr>
        <p:spPr>
          <a:xfrm>
            <a:off x="1005840" y="3291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Aniq vaqt</a:t>
            </a:r>
            <a:endParaRPr lang="en-US" sz="2400" dirty="0"/>
          </a:p>
        </p:txBody>
      </p:sp>
      <p:sp>
        <p:nvSpPr>
          <p:cNvPr id="7" name="matn-1"/>
          <p:cNvSpPr txBox="1"/>
          <p:nvPr/>
        </p:nvSpPr>
        <p:spPr>
          <a:xfrm>
            <a:off x="1005840" y="393192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Joylashuvingiz bo'yicha hisoblangan va idora (muslim.uz) vaqtlariga moslangan namoz vaqtlari.</a:t>
            </a:r>
            <a:endParaRPr lang="en-US" sz="1600" dirty="0"/>
          </a:p>
        </p:txBody>
      </p:sp>
      <p:sp>
        <p:nvSpPr>
          <p:cNvPr id="8" name="karta-2"/>
          <p:cNvSpPr/>
          <p:nvPr/>
        </p:nvSpPr>
        <p:spPr>
          <a:xfrm>
            <a:off x="4389120" y="1737360"/>
            <a:ext cx="3383280" cy="4023360"/>
          </a:xfrm>
          <a:prstGeom prst="roundRect">
            <a:avLst>
              <a:gd name="adj" fmla="val 4865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9" name="nega-2-doira"/>
          <p:cNvSpPr/>
          <p:nvPr/>
        </p:nvSpPr>
        <p:spPr>
          <a:xfrm>
            <a:off x="4754880" y="21031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nega-2-ikonka" descr="nega-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331720"/>
            <a:ext cx="457200" cy="457200"/>
          </a:xfrm>
          <a:prstGeom prst="rect">
            <a:avLst/>
          </a:prstGeom>
        </p:spPr>
      </p:pic>
      <p:sp>
        <p:nvSpPr>
          <p:cNvPr id="11" name="sarlavha-2"/>
          <p:cNvSpPr txBox="1"/>
          <p:nvPr/>
        </p:nvSpPr>
        <p:spPr>
          <a:xfrm>
            <a:off x="4754880" y="3291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Yumshoq eslatma</a:t>
            </a:r>
            <a:endParaRPr lang="en-US" sz="2400" dirty="0"/>
          </a:p>
        </p:txBody>
      </p:sp>
      <p:sp>
        <p:nvSpPr>
          <p:cNvPr id="12" name="matn-2"/>
          <p:cNvSpPr txBox="1"/>
          <p:nvPr/>
        </p:nvSpPr>
        <p:spPr>
          <a:xfrm>
            <a:off x="4754880" y="393192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Namozdan 5 daqiqa oldin va vaqtida: avval «ting», keyin muloyim ovozli xabar.</a:t>
            </a:r>
            <a:endParaRPr lang="en-US" sz="1600" dirty="0"/>
          </a:p>
        </p:txBody>
      </p:sp>
      <p:sp>
        <p:nvSpPr>
          <p:cNvPr id="13" name="karta-3"/>
          <p:cNvSpPr/>
          <p:nvPr/>
        </p:nvSpPr>
        <p:spPr>
          <a:xfrm>
            <a:off x="8138160" y="1737360"/>
            <a:ext cx="3383280" cy="4023360"/>
          </a:xfrm>
          <a:prstGeom prst="roundRect">
            <a:avLst>
              <a:gd name="adj" fmla="val 4865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14" name="nega-3-doira"/>
          <p:cNvSpPr/>
          <p:nvPr/>
        </p:nvSpPr>
        <p:spPr>
          <a:xfrm>
            <a:off x="8503920" y="21031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nega-3-ikonka" descr="nega-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2331720"/>
            <a:ext cx="457200" cy="457200"/>
          </a:xfrm>
          <a:prstGeom prst="rect">
            <a:avLst/>
          </a:prstGeom>
        </p:spPr>
      </p:pic>
      <p:sp>
        <p:nvSpPr>
          <p:cNvPr id="16" name="sarlavha-3"/>
          <p:cNvSpPr txBox="1"/>
          <p:nvPr/>
        </p:nvSpPr>
        <p:spPr>
          <a:xfrm>
            <a:off x="8503920" y="3291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Tartib va kuzatuv</a:t>
            </a:r>
            <a:endParaRPr lang="en-US" sz="2400" dirty="0"/>
          </a:p>
        </p:txBody>
      </p:sp>
      <p:sp>
        <p:nvSpPr>
          <p:cNvPr id="17" name="matn-3"/>
          <p:cNvSpPr txBox="1"/>
          <p:nvPr/>
        </p:nvSpPr>
        <p:spPr>
          <a:xfrm>
            <a:off x="8503920" y="393192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«Bajarildi» belgisi, tarix va statistika. Faqat siz o'zingiz belgilagan ma'lumotlar.</a:t>
            </a:r>
            <a:endParaRPr lang="en-US" sz="1600" dirty="0"/>
          </a:p>
        </p:txBody>
      </p:sp>
      <p:sp>
        <p:nvSpPr>
          <p:cNvPr id="999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2"/>
                </a:solidFill>
              </a:rPr>
              <a:t>Asosiy imkoniyatlar</a:t>
            </a:r>
            <a:endParaRPr lang="en-US" sz="3800" dirty="0"/>
          </a:p>
        </p:txBody>
      </p:sp>
      <p:sp>
        <p:nvSpPr>
          <p:cNvPr id="3" name="imkoniyat-1"/>
          <p:cNvSpPr/>
          <p:nvPr/>
        </p:nvSpPr>
        <p:spPr>
          <a:xfrm>
            <a:off x="640080" y="1600200"/>
            <a:ext cx="3383280" cy="2103120"/>
          </a:xfrm>
          <a:prstGeom prst="roundRect">
            <a:avLst>
              <a:gd name="adj" fmla="val 7826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4" name="imkon-1-doira"/>
          <p:cNvSpPr/>
          <p:nvPr/>
        </p:nvSpPr>
        <p:spPr>
          <a:xfrm>
            <a:off x="960120" y="19202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kon-1-ikonka" descr="imkon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103120"/>
            <a:ext cx="365760" cy="365760"/>
          </a:xfrm>
          <a:prstGeom prst="rect">
            <a:avLst/>
          </a:prstGeom>
        </p:spPr>
      </p:pic>
      <p:sp>
        <p:nvSpPr>
          <p:cNvPr id="6" name="imkon-sarlavha-1"/>
          <p:cNvSpPr txBox="1"/>
          <p:nvPr/>
        </p:nvSpPr>
        <p:spPr>
          <a:xfrm>
            <a:off x="1828800" y="19202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Namoz vaqtlari</a:t>
            </a:r>
            <a:endParaRPr lang="en-US" sz="2000" dirty="0"/>
          </a:p>
        </p:txBody>
      </p:sp>
      <p:sp>
        <p:nvSpPr>
          <p:cNvPr id="7" name="imkon-matn-1"/>
          <p:cNvSpPr txBox="1"/>
          <p:nvPr/>
        </p:nvSpPr>
        <p:spPr>
          <a:xfrm>
            <a:off x="960120" y="27889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Besh vaqt va Quyosh chiqishi, har kuni yangilanadi</a:t>
            </a:r>
            <a:endParaRPr lang="en-US" sz="1500" dirty="0"/>
          </a:p>
        </p:txBody>
      </p:sp>
      <p:sp>
        <p:nvSpPr>
          <p:cNvPr id="8" name="imkoniyat-2"/>
          <p:cNvSpPr/>
          <p:nvPr/>
        </p:nvSpPr>
        <p:spPr>
          <a:xfrm>
            <a:off x="4389120" y="1600200"/>
            <a:ext cx="3383280" cy="2103120"/>
          </a:xfrm>
          <a:prstGeom prst="roundRect">
            <a:avLst>
              <a:gd name="adj" fmla="val 7826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9" name="imkon-2-doira"/>
          <p:cNvSpPr/>
          <p:nvPr/>
        </p:nvSpPr>
        <p:spPr>
          <a:xfrm>
            <a:off x="4709160" y="19202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kon-2-ikonka" descr="imkon-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103120"/>
            <a:ext cx="365760" cy="365760"/>
          </a:xfrm>
          <a:prstGeom prst="rect">
            <a:avLst/>
          </a:prstGeom>
        </p:spPr>
      </p:pic>
      <p:sp>
        <p:nvSpPr>
          <p:cNvPr id="11" name="imkon-sarlavha-2"/>
          <p:cNvSpPr txBox="1"/>
          <p:nvPr/>
        </p:nvSpPr>
        <p:spPr>
          <a:xfrm>
            <a:off x="5577840" y="19202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Qayta eslatma</a:t>
            </a:r>
            <a:endParaRPr lang="en-US" sz="2000" dirty="0"/>
          </a:p>
        </p:txBody>
      </p:sp>
      <p:sp>
        <p:nvSpPr>
          <p:cNvPr id="12" name="imkon-matn-2"/>
          <p:cNvSpPr txBox="1"/>
          <p:nvPr/>
        </p:nvSpPr>
        <p:spPr>
          <a:xfrm>
            <a:off x="4709160" y="27889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Belgilanmasa 10 daqiqada bir, jami 3 marta</a:t>
            </a:r>
            <a:endParaRPr lang="en-US" sz="1500" dirty="0"/>
          </a:p>
        </p:txBody>
      </p:sp>
      <p:sp>
        <p:nvSpPr>
          <p:cNvPr id="13" name="imkoniyat-3"/>
          <p:cNvSpPr/>
          <p:nvPr/>
        </p:nvSpPr>
        <p:spPr>
          <a:xfrm>
            <a:off x="8138160" y="1600200"/>
            <a:ext cx="3383280" cy="2103120"/>
          </a:xfrm>
          <a:prstGeom prst="roundRect">
            <a:avLst>
              <a:gd name="adj" fmla="val 7826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14" name="imkon-3-doira"/>
          <p:cNvSpPr/>
          <p:nvPr/>
        </p:nvSpPr>
        <p:spPr>
          <a:xfrm>
            <a:off x="8458200" y="19202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kon-3-ikonka" descr="imkon-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2103120"/>
            <a:ext cx="365760" cy="365760"/>
          </a:xfrm>
          <a:prstGeom prst="rect">
            <a:avLst/>
          </a:prstGeom>
        </p:spPr>
      </p:pic>
      <p:sp>
        <p:nvSpPr>
          <p:cNvPr id="16" name="imkon-sarlavha-3"/>
          <p:cNvSpPr txBox="1"/>
          <p:nvPr/>
        </p:nvSpPr>
        <p:spPr>
          <a:xfrm>
            <a:off x="9326880" y="19202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Bomdod va Tahajjud</a:t>
            </a:r>
            <a:endParaRPr lang="en-US" sz="2000" dirty="0"/>
          </a:p>
        </p:txBody>
      </p:sp>
      <p:sp>
        <p:nvSpPr>
          <p:cNvPr id="17" name="imkon-matn-3"/>
          <p:cNvSpPr txBox="1"/>
          <p:nvPr/>
        </p:nvSpPr>
        <p:spPr>
          <a:xfrm>
            <a:off x="8458200" y="27889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Budilnik; kunlarni o'zingiz tanlaysiz</a:t>
            </a:r>
            <a:endParaRPr lang="en-US" sz="1500" dirty="0"/>
          </a:p>
        </p:txBody>
      </p:sp>
      <p:sp>
        <p:nvSpPr>
          <p:cNvPr id="18" name="imkoniyat-4"/>
          <p:cNvSpPr/>
          <p:nvPr/>
        </p:nvSpPr>
        <p:spPr>
          <a:xfrm>
            <a:off x="640080" y="3977640"/>
            <a:ext cx="3383280" cy="2103120"/>
          </a:xfrm>
          <a:prstGeom prst="roundRect">
            <a:avLst>
              <a:gd name="adj" fmla="val 7826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19" name="imkon-4-doira"/>
          <p:cNvSpPr/>
          <p:nvPr/>
        </p:nvSpPr>
        <p:spPr>
          <a:xfrm>
            <a:off x="960120" y="42976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kon-4-ikonka" descr="imkon-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480560"/>
            <a:ext cx="365760" cy="365760"/>
          </a:xfrm>
          <a:prstGeom prst="rect">
            <a:avLst/>
          </a:prstGeom>
        </p:spPr>
      </p:pic>
      <p:sp>
        <p:nvSpPr>
          <p:cNvPr id="21" name="imkon-sarlavha-4"/>
          <p:cNvSpPr txBox="1"/>
          <p:nvPr/>
        </p:nvSpPr>
        <p:spPr>
          <a:xfrm>
            <a:off x="1828800" y="42976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Taqvim</a:t>
            </a:r>
            <a:endParaRPr lang="en-US" sz="2000" dirty="0"/>
          </a:p>
        </p:txBody>
      </p:sp>
      <p:sp>
        <p:nvSpPr>
          <p:cNvPr id="22" name="imkon-matn-4"/>
          <p:cNvSpPr txBox="1"/>
          <p:nvPr/>
        </p:nvSpPr>
        <p:spPr>
          <a:xfrm>
            <a:off x="960120" y="51663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Milodiy va Hijriy, shaxsiy eslatmalar</a:t>
            </a:r>
            <a:endParaRPr lang="en-US" sz="1500" dirty="0"/>
          </a:p>
        </p:txBody>
      </p:sp>
      <p:sp>
        <p:nvSpPr>
          <p:cNvPr id="23" name="imkoniyat-5"/>
          <p:cNvSpPr/>
          <p:nvPr/>
        </p:nvSpPr>
        <p:spPr>
          <a:xfrm>
            <a:off x="4389120" y="3977640"/>
            <a:ext cx="3383280" cy="2103120"/>
          </a:xfrm>
          <a:prstGeom prst="roundRect">
            <a:avLst>
              <a:gd name="adj" fmla="val 7826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24" name="imkon-5-doira"/>
          <p:cNvSpPr/>
          <p:nvPr/>
        </p:nvSpPr>
        <p:spPr>
          <a:xfrm>
            <a:off x="4709160" y="42976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mkon-5-ikonka" descr="imkon-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4480560"/>
            <a:ext cx="365760" cy="365760"/>
          </a:xfrm>
          <a:prstGeom prst="rect">
            <a:avLst/>
          </a:prstGeom>
        </p:spPr>
      </p:pic>
      <p:sp>
        <p:nvSpPr>
          <p:cNvPr id="26" name="imkon-sarlavha-5"/>
          <p:cNvSpPr txBox="1"/>
          <p:nvPr/>
        </p:nvSpPr>
        <p:spPr>
          <a:xfrm>
            <a:off x="5577840" y="42976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Suralar</a:t>
            </a:r>
            <a:endParaRPr lang="en-US" sz="2000" dirty="0"/>
          </a:p>
        </p:txBody>
      </p:sp>
      <p:sp>
        <p:nvSpPr>
          <p:cNvPr id="27" name="imkon-matn-5"/>
          <p:cNvSpPr txBox="1"/>
          <p:nvPr/>
        </p:nvSpPr>
        <p:spPr>
          <a:xfrm>
            <a:off x="4709160" y="51663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Oyatal Kursi, Fotiha, Ixlos, Falaq, Nos</a:t>
            </a:r>
            <a:endParaRPr lang="en-US" sz="1500" dirty="0"/>
          </a:p>
        </p:txBody>
      </p:sp>
      <p:sp>
        <p:nvSpPr>
          <p:cNvPr id="28" name="imkoniyat-6"/>
          <p:cNvSpPr/>
          <p:nvPr/>
        </p:nvSpPr>
        <p:spPr>
          <a:xfrm>
            <a:off x="8138160" y="3977640"/>
            <a:ext cx="3383280" cy="2103120"/>
          </a:xfrm>
          <a:prstGeom prst="roundRect">
            <a:avLst>
              <a:gd name="adj" fmla="val 7826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29" name="imkon-6-doira"/>
          <p:cNvSpPr/>
          <p:nvPr/>
        </p:nvSpPr>
        <p:spPr>
          <a:xfrm>
            <a:off x="8458200" y="42976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mkon-6-ikonka" descr="imkon-6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1080" y="4480560"/>
            <a:ext cx="365760" cy="365760"/>
          </a:xfrm>
          <a:prstGeom prst="rect">
            <a:avLst/>
          </a:prstGeom>
        </p:spPr>
      </p:pic>
      <p:sp>
        <p:nvSpPr>
          <p:cNvPr id="31" name="imkon-sarlavha-6"/>
          <p:cNvSpPr txBox="1"/>
          <p:nvPr/>
        </p:nvSpPr>
        <p:spPr>
          <a:xfrm>
            <a:off x="9326880" y="42976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Lotin va Kirill</a:t>
            </a:r>
            <a:endParaRPr lang="en-US" sz="2000" dirty="0"/>
          </a:p>
        </p:txBody>
      </p:sp>
      <p:sp>
        <p:nvSpPr>
          <p:cNvPr id="32" name="imkon-matn-6"/>
          <p:cNvSpPr txBox="1"/>
          <p:nvPr/>
        </p:nvSpPr>
        <p:spPr>
          <a:xfrm>
            <a:off x="8458200" y="51663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Kattalar uchun katta matn</a:t>
            </a:r>
            <a:endParaRPr lang="en-US" sz="1500" dirty="0"/>
          </a:p>
        </p:txBody>
      </p:sp>
      <p:sp>
        <p:nvSpPr>
          <p:cNvPr id="999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01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16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grpId="0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3" presetClass="entr" presetSubtype="16" fill="hold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53" presetClass="entr" presetSubtype="16" fill="hold" grpId="0" nodeType="withEffect">
                                  <p:stCondLst>
                                    <p:cond delay="159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3" presetClass="entr" presetSubtype="16" fill="hold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179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194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53" presetClass="entr" presetSubtype="16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53" presetClass="entr" presetSubtype="16" fill="hold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2"/>
                </a:solidFill>
              </a:rPr>
              <a:t>Eslatma qanday ishlaydi</a:t>
            </a:r>
            <a:endParaRPr lang="en-US" sz="3800" dirty="0"/>
          </a:p>
        </p:txBody>
      </p:sp>
      <p:sp>
        <p:nvSpPr>
          <p:cNvPr id="3" name="vaqt-chizigi"/>
          <p:cNvSpPr/>
          <p:nvPr/>
        </p:nvSpPr>
        <p:spPr>
          <a:xfrm>
            <a:off x="1280160" y="3154680"/>
            <a:ext cx="9601200" cy="0"/>
          </a:xfrm>
          <a:prstGeom prst="line">
            <a:avLst/>
          </a:prstGeom>
          <a:noFill/>
          <a:ln w="38100">
            <a:solidFill>
              <a:schemeClr val="accent5"/>
            </a:solidFill>
            <a:prstDash val="solid"/>
          </a:ln>
        </p:spPr>
      </p:sp>
      <p:sp>
        <p:nvSpPr>
          <p:cNvPr id="4" name="vaqt-1"/>
          <p:cNvSpPr txBox="1"/>
          <p:nvPr/>
        </p:nvSpPr>
        <p:spPr>
          <a:xfrm>
            <a:off x="274320" y="20116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−5 daq.</a:t>
            </a:r>
            <a:endParaRPr lang="en-US" sz="3200" dirty="0"/>
          </a:p>
        </p:txBody>
      </p:sp>
      <p:sp>
        <p:nvSpPr>
          <p:cNvPr id="5" name="tugun-1"/>
          <p:cNvSpPr/>
          <p:nvPr/>
        </p:nvSpPr>
        <p:spPr>
          <a:xfrm>
            <a:off x="1078992" y="2953512"/>
            <a:ext cx="402336" cy="402336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6" name="tavsif-1"/>
          <p:cNvSpPr txBox="1"/>
          <p:nvPr/>
        </p:nvSpPr>
        <p:spPr>
          <a:xfrm>
            <a:off x="137160" y="36118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Ting va «Iltimos, o'qib oling»</a:t>
            </a:r>
            <a:endParaRPr lang="en-US" sz="1600" dirty="0"/>
          </a:p>
        </p:txBody>
      </p:sp>
      <p:sp>
        <p:nvSpPr>
          <p:cNvPr id="7" name="vaqt-2"/>
          <p:cNvSpPr txBox="1"/>
          <p:nvPr/>
        </p:nvSpPr>
        <p:spPr>
          <a:xfrm>
            <a:off x="2674620" y="20116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</a:t>
            </a:r>
            <a:endParaRPr lang="en-US" sz="3200" dirty="0"/>
          </a:p>
        </p:txBody>
      </p:sp>
      <p:sp>
        <p:nvSpPr>
          <p:cNvPr id="8" name="tugun-2"/>
          <p:cNvSpPr/>
          <p:nvPr/>
        </p:nvSpPr>
        <p:spPr>
          <a:xfrm>
            <a:off x="3479292" y="2953512"/>
            <a:ext cx="402336" cy="402336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9" name="tavsif-2"/>
          <p:cNvSpPr txBox="1"/>
          <p:nvPr/>
        </p:nvSpPr>
        <p:spPr>
          <a:xfrm>
            <a:off x="2537460" y="36118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Namoz vaqti: ting va ovozli xabar</a:t>
            </a:r>
            <a:endParaRPr lang="en-US" sz="1600" dirty="0"/>
          </a:p>
        </p:txBody>
      </p:sp>
      <p:sp>
        <p:nvSpPr>
          <p:cNvPr id="10" name="vaqt-3"/>
          <p:cNvSpPr txBox="1"/>
          <p:nvPr/>
        </p:nvSpPr>
        <p:spPr>
          <a:xfrm>
            <a:off x="5074920" y="20116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+10</a:t>
            </a:r>
            <a:endParaRPr lang="en-US" sz="3200" dirty="0"/>
          </a:p>
        </p:txBody>
      </p:sp>
      <p:sp>
        <p:nvSpPr>
          <p:cNvPr id="11" name="tugun-3"/>
          <p:cNvSpPr/>
          <p:nvPr/>
        </p:nvSpPr>
        <p:spPr>
          <a:xfrm>
            <a:off x="5879592" y="2953512"/>
            <a:ext cx="402336" cy="402336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12" name="tavsif-3"/>
          <p:cNvSpPr txBox="1"/>
          <p:nvPr/>
        </p:nvSpPr>
        <p:spPr>
          <a:xfrm>
            <a:off x="4937760" y="36118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1-qayta eslatma</a:t>
            </a:r>
            <a:endParaRPr lang="en-US" sz="1600" dirty="0"/>
          </a:p>
        </p:txBody>
      </p:sp>
      <p:sp>
        <p:nvSpPr>
          <p:cNvPr id="13" name="vaqt-4"/>
          <p:cNvSpPr txBox="1"/>
          <p:nvPr/>
        </p:nvSpPr>
        <p:spPr>
          <a:xfrm>
            <a:off x="7475220" y="20116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+20</a:t>
            </a:r>
            <a:endParaRPr lang="en-US" sz="3200" dirty="0"/>
          </a:p>
        </p:txBody>
      </p:sp>
      <p:sp>
        <p:nvSpPr>
          <p:cNvPr id="14" name="tugun-4"/>
          <p:cNvSpPr/>
          <p:nvPr/>
        </p:nvSpPr>
        <p:spPr>
          <a:xfrm>
            <a:off x="8279892" y="2953512"/>
            <a:ext cx="402336" cy="402336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15" name="tavsif-4"/>
          <p:cNvSpPr txBox="1"/>
          <p:nvPr/>
        </p:nvSpPr>
        <p:spPr>
          <a:xfrm>
            <a:off x="7338060" y="36118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2-qayta eslatma</a:t>
            </a:r>
            <a:endParaRPr lang="en-US" sz="1600" dirty="0"/>
          </a:p>
        </p:txBody>
      </p:sp>
      <p:sp>
        <p:nvSpPr>
          <p:cNvPr id="16" name="vaqt-5"/>
          <p:cNvSpPr txBox="1"/>
          <p:nvPr/>
        </p:nvSpPr>
        <p:spPr>
          <a:xfrm>
            <a:off x="9875520" y="20116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+30</a:t>
            </a:r>
            <a:endParaRPr lang="en-US" sz="3200" dirty="0"/>
          </a:p>
        </p:txBody>
      </p:sp>
      <p:sp>
        <p:nvSpPr>
          <p:cNvPr id="17" name="tugun-5"/>
          <p:cNvSpPr/>
          <p:nvPr/>
        </p:nvSpPr>
        <p:spPr>
          <a:xfrm>
            <a:off x="10680192" y="2953512"/>
            <a:ext cx="402336" cy="402336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18" name="tavsif-5"/>
          <p:cNvSpPr txBox="1"/>
          <p:nvPr/>
        </p:nvSpPr>
        <p:spPr>
          <a:xfrm>
            <a:off x="9738360" y="36118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Oxirgi eslatma</a:t>
            </a:r>
            <a:endParaRPr lang="en-US" sz="1600" dirty="0"/>
          </a:p>
        </p:txBody>
      </p:sp>
      <p:sp>
        <p:nvSpPr>
          <p:cNvPr id="19" name="bekor-karta"/>
          <p:cNvSpPr/>
          <p:nvPr/>
        </p:nvSpPr>
        <p:spPr>
          <a:xfrm>
            <a:off x="640080" y="4892040"/>
            <a:ext cx="10881360" cy="1188720"/>
          </a:xfrm>
          <a:prstGeom prst="roundRect">
            <a:avLst>
              <a:gd name="adj" fmla="val 13846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20" name="bajarildi-doira"/>
          <p:cNvSpPr/>
          <p:nvPr/>
        </p:nvSpPr>
        <p:spPr>
          <a:xfrm>
            <a:off x="960120" y="50749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bajarildi-ikonka" descr="bajarild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5860" y="5280660"/>
            <a:ext cx="411480" cy="411480"/>
          </a:xfrm>
          <a:prstGeom prst="rect">
            <a:avLst/>
          </a:prstGeom>
        </p:spPr>
      </p:pic>
      <p:sp>
        <p:nvSpPr>
          <p:cNvPr id="22" name="bekor-matn"/>
          <p:cNvSpPr txBox="1"/>
          <p:nvPr/>
        </p:nvSpPr>
        <p:spPr>
          <a:xfrm>
            <a:off x="2011680" y="4983480"/>
            <a:ext cx="9235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«Bajarildi» bosilsa, shu namozning qolgan eslatmalari darhol bekor bo'ladi. Boshqa namozlarga tegilmaydi.</a:t>
            </a:r>
            <a:endParaRPr lang="en-US" sz="1800" dirty="0"/>
          </a:p>
        </p:txBody>
      </p:sp>
      <p:sp>
        <p:nvSpPr>
          <p:cNvPr id="999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16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20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3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25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26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288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2"/>
                </a:solidFill>
              </a:rPr>
              <a:t>Vaqtlar qayerdan olinadi</a:t>
            </a:r>
            <a:endParaRPr lang="en-US" sz="3800" dirty="0"/>
          </a:p>
        </p:txBody>
      </p:sp>
      <p:sp>
        <p:nvSpPr>
          <p:cNvPr id="3" name="zanjir-1"/>
          <p:cNvSpPr/>
          <p:nvPr/>
        </p:nvSpPr>
        <p:spPr>
          <a:xfrm>
            <a:off x="640080" y="1645920"/>
            <a:ext cx="5852160" cy="1280160"/>
          </a:xfrm>
          <a:prstGeom prst="roundRect">
            <a:avLst>
              <a:gd name="adj" fmla="val 12857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4" name="raqam-doira-1"/>
          <p:cNvSpPr/>
          <p:nvPr/>
        </p:nvSpPr>
        <p:spPr>
          <a:xfrm>
            <a:off x="914400" y="19202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raqam-1"/>
          <p:cNvSpPr txBox="1"/>
          <p:nvPr/>
        </p:nvSpPr>
        <p:spPr>
          <a:xfrm>
            <a:off x="91440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1</a:t>
            </a:r>
            <a:endParaRPr lang="en-US" sz="2600" dirty="0"/>
          </a:p>
        </p:txBody>
      </p:sp>
      <p:sp>
        <p:nvSpPr>
          <p:cNvPr id="6" name="zanjir-sarlavha-1"/>
          <p:cNvSpPr txBox="1"/>
          <p:nvPr/>
        </p:nvSpPr>
        <p:spPr>
          <a:xfrm>
            <a:off x="1920240" y="181051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6"/>
                </a:solidFill>
              </a:rPr>
              <a:t>islom.uz</a:t>
            </a:r>
            <a:endParaRPr lang="en-US" sz="1900" dirty="0"/>
          </a:p>
        </p:txBody>
      </p:sp>
      <p:sp>
        <p:nvSpPr>
          <p:cNvPr id="7" name="zanjir-matn-1"/>
          <p:cNvSpPr txBox="1"/>
          <p:nvPr/>
        </p:nvSpPr>
        <p:spPr>
          <a:xfrm>
            <a:off x="1920240" y="23317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Xizmat ishlasa, shahar jadvali</a:t>
            </a:r>
            <a:endParaRPr lang="en-US" sz="1500" dirty="0"/>
          </a:p>
        </p:txBody>
      </p:sp>
      <p:sp>
        <p:nvSpPr>
          <p:cNvPr id="8" name="zanjir-2"/>
          <p:cNvSpPr/>
          <p:nvPr/>
        </p:nvSpPr>
        <p:spPr>
          <a:xfrm>
            <a:off x="640080" y="3108960"/>
            <a:ext cx="5852160" cy="1280160"/>
          </a:xfrm>
          <a:prstGeom prst="roundRect">
            <a:avLst>
              <a:gd name="adj" fmla="val 12857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9" name="raqam-doira-2"/>
          <p:cNvSpPr/>
          <p:nvPr/>
        </p:nvSpPr>
        <p:spPr>
          <a:xfrm>
            <a:off x="914400" y="33832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raqam-2"/>
          <p:cNvSpPr txBox="1"/>
          <p:nvPr/>
        </p:nvSpPr>
        <p:spPr>
          <a:xfrm>
            <a:off x="914400" y="3383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2</a:t>
            </a:r>
            <a:endParaRPr lang="en-US" sz="2600" dirty="0"/>
          </a:p>
        </p:txBody>
      </p:sp>
      <p:sp>
        <p:nvSpPr>
          <p:cNvPr id="11" name="zanjir-sarlavha-2"/>
          <p:cNvSpPr txBox="1"/>
          <p:nvPr/>
        </p:nvSpPr>
        <p:spPr>
          <a:xfrm>
            <a:off x="1920240" y="327355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6"/>
                </a:solidFill>
              </a:rPr>
              <a:t>muslim.uz bilan sinxron hisob</a:t>
            </a:r>
            <a:endParaRPr lang="en-US" sz="1900" dirty="0"/>
          </a:p>
        </p:txBody>
      </p:sp>
      <p:sp>
        <p:nvSpPr>
          <p:cNvPr id="12" name="zanjir-matn-2"/>
          <p:cNvSpPr txBox="1"/>
          <p:nvPr/>
        </p:nvSpPr>
        <p:spPr>
          <a:xfrm>
            <a:off x="1920240" y="37947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O'zbekiston Musulmonlari idorasi vaqtlariga moslangan</a:t>
            </a:r>
            <a:endParaRPr lang="en-US" sz="1500" dirty="0"/>
          </a:p>
        </p:txBody>
      </p:sp>
      <p:sp>
        <p:nvSpPr>
          <p:cNvPr id="13" name="zanjir-3"/>
          <p:cNvSpPr/>
          <p:nvPr/>
        </p:nvSpPr>
        <p:spPr>
          <a:xfrm>
            <a:off x="640080" y="4572000"/>
            <a:ext cx="5852160" cy="1280160"/>
          </a:xfrm>
          <a:prstGeom prst="roundRect">
            <a:avLst>
              <a:gd name="adj" fmla="val 12857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14" name="raqam-doira-3"/>
          <p:cNvSpPr/>
          <p:nvPr/>
        </p:nvSpPr>
        <p:spPr>
          <a:xfrm>
            <a:off x="914400" y="48463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raqam-3"/>
          <p:cNvSpPr txBox="1"/>
          <p:nvPr/>
        </p:nvSpPr>
        <p:spPr>
          <a:xfrm>
            <a:off x="914400" y="4846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3</a:t>
            </a:r>
            <a:endParaRPr lang="en-US" sz="2600" dirty="0"/>
          </a:p>
        </p:txBody>
      </p:sp>
      <p:sp>
        <p:nvSpPr>
          <p:cNvPr id="16" name="zanjir-sarlavha-3"/>
          <p:cNvSpPr txBox="1"/>
          <p:nvPr/>
        </p:nvSpPr>
        <p:spPr>
          <a:xfrm>
            <a:off x="1920240" y="473659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6"/>
                </a:solidFill>
              </a:rPr>
              <a:t>Telefondagi hisob</a:t>
            </a:r>
            <a:endParaRPr lang="en-US" sz="1900" dirty="0"/>
          </a:p>
        </p:txBody>
      </p:sp>
      <p:sp>
        <p:nvSpPr>
          <p:cNvPr id="17" name="zanjir-matn-3"/>
          <p:cNvSpPr txBox="1"/>
          <p:nvPr/>
        </p:nvSpPr>
        <p:spPr>
          <a:xfrm>
            <a:off x="1920240" y="5257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Internet bo'lmaganda ham ishlaydi</a:t>
            </a:r>
            <a:endParaRPr lang="en-US" sz="1500" dirty="0"/>
          </a:p>
        </p:txBody>
      </p:sp>
      <p:sp>
        <p:nvSpPr>
          <p:cNvPr id="18" name="korsatkich-1"/>
          <p:cNvSpPr/>
          <p:nvPr/>
        </p:nvSpPr>
        <p:spPr>
          <a:xfrm>
            <a:off x="6858000" y="1645920"/>
            <a:ext cx="4663440" cy="2103120"/>
          </a:xfrm>
          <a:prstGeom prst="roundRect">
            <a:avLst>
              <a:gd name="adj" fmla="val 7826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19" name="korsatkich-1-son"/>
          <p:cNvSpPr txBox="1"/>
          <p:nvPr/>
        </p:nvSpPr>
        <p:spPr>
          <a:xfrm>
            <a:off x="7132320" y="178308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0 daq.</a:t>
            </a:r>
            <a:endParaRPr lang="en-US" sz="6000" dirty="0"/>
          </a:p>
        </p:txBody>
      </p:sp>
      <p:sp>
        <p:nvSpPr>
          <p:cNvPr id="20" name="korsatkich-1-matn"/>
          <p:cNvSpPr txBox="1"/>
          <p:nvPr/>
        </p:nvSpPr>
        <p:spPr>
          <a:xfrm>
            <a:off x="7132320" y="28346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Quyosh, Peshin, Asr: idora vaqti bilan farq (Toshkent, sinov kuni)</a:t>
            </a:r>
            <a:endParaRPr lang="en-US" sz="1500" dirty="0"/>
          </a:p>
        </p:txBody>
      </p:sp>
      <p:sp>
        <p:nvSpPr>
          <p:cNvPr id="21" name="korsatkich-2"/>
          <p:cNvSpPr/>
          <p:nvPr/>
        </p:nvSpPr>
        <p:spPr>
          <a:xfrm>
            <a:off x="6858000" y="4023360"/>
            <a:ext cx="4663440" cy="2103120"/>
          </a:xfrm>
          <a:prstGeom prst="roundRect">
            <a:avLst>
              <a:gd name="adj" fmla="val 7826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22" name="korsatkich-2-son"/>
          <p:cNvSpPr txBox="1"/>
          <p:nvPr/>
        </p:nvSpPr>
        <p:spPr>
          <a:xfrm>
            <a:off x="7132320" y="416052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−3 · +4 · +3</a:t>
            </a:r>
            <a:endParaRPr lang="en-US" sz="4400" dirty="0"/>
          </a:p>
        </p:txBody>
      </p:sp>
      <p:sp>
        <p:nvSpPr>
          <p:cNvPr id="23" name="korsatkich-2-matn"/>
          <p:cNvSpPr txBox="1"/>
          <p:nvPr/>
        </p:nvSpPr>
        <p:spPr>
          <a:xfrm>
            <a:off x="7132320" y="521208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Bomdod · Shom · Xufton: idora «ehtiyot» daqiqalariga moslama</a:t>
            </a:r>
            <a:endParaRPr lang="en-US" sz="1500" dirty="0"/>
          </a:p>
        </p:txBody>
      </p:sp>
      <p:sp>
        <p:nvSpPr>
          <p:cNvPr id="24" name="izoh"/>
          <p:cNvSpPr txBox="1"/>
          <p:nvPr/>
        </p:nvSpPr>
        <p:spPr>
          <a:xfrm>
            <a:off x="640080" y="594360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Boshqa shaharlar uchun idora jadvali berilmaydi: joylashuvga aniq hisob va Toshkentdan olingan moslama ishlatiladi.</a:t>
            </a:r>
            <a:endParaRPr lang="en-US" sz="1200" dirty="0"/>
          </a:p>
        </p:txBody>
      </p:sp>
      <p:sp>
        <p:nvSpPr>
          <p:cNvPr id="999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8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2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2" fill="hold" grpId="0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43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2"/>
                </a:solidFill>
              </a:rPr>
              <a:t>Dizayn va qulaylik</a:t>
            </a:r>
            <a:endParaRPr lang="en-US" sz="3800" dirty="0"/>
          </a:p>
        </p:txBody>
      </p:sp>
      <p:sp>
        <p:nvSpPr>
          <p:cNvPr id="3" name="nuqta-1"/>
          <p:cNvSpPr/>
          <p:nvPr/>
        </p:nvSpPr>
        <p:spPr>
          <a:xfrm>
            <a:off x="640080" y="1709928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dizayn-sarlavha-1"/>
          <p:cNvSpPr txBox="1"/>
          <p:nvPr/>
        </p:nvSpPr>
        <p:spPr>
          <a:xfrm>
            <a:off x="1097280" y="16002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Zumrad-oltin shisha dizayn</a:t>
            </a:r>
            <a:endParaRPr lang="en-US" sz="2200" dirty="0"/>
          </a:p>
        </p:txBody>
      </p:sp>
      <p:sp>
        <p:nvSpPr>
          <p:cNvPr id="5" name="dizayn-matn-1"/>
          <p:cNvSpPr txBox="1"/>
          <p:nvPr/>
        </p:nvSpPr>
        <p:spPr>
          <a:xfrm>
            <a:off x="1097280" y="207568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Ko'zni charchatmaydigan qorong'i fon</a:t>
            </a:r>
            <a:endParaRPr lang="en-US" sz="1600" dirty="0"/>
          </a:p>
        </p:txBody>
      </p:sp>
      <p:sp>
        <p:nvSpPr>
          <p:cNvPr id="6" name="nuqta-2"/>
          <p:cNvSpPr/>
          <p:nvPr/>
        </p:nvSpPr>
        <p:spPr>
          <a:xfrm>
            <a:off x="640080" y="2898648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dizayn-sarlavha-2"/>
          <p:cNvSpPr txBox="1"/>
          <p:nvPr/>
        </p:nvSpPr>
        <p:spPr>
          <a:xfrm>
            <a:off x="1097280" y="27889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Yumshoq ovoz</a:t>
            </a:r>
            <a:endParaRPr lang="en-US" sz="2200" dirty="0"/>
          </a:p>
        </p:txBody>
      </p:sp>
      <p:sp>
        <p:nvSpPr>
          <p:cNvPr id="8" name="dizayn-matn-2"/>
          <p:cNvSpPr txBox="1"/>
          <p:nvPr/>
        </p:nvSpPr>
        <p:spPr>
          <a:xfrm>
            <a:off x="1097280" y="326440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Madina, Svetlana yoki telefon ovozi; «ting» doim chaladi</a:t>
            </a:r>
            <a:endParaRPr lang="en-US" sz="1600" dirty="0"/>
          </a:p>
        </p:txBody>
      </p:sp>
      <p:sp>
        <p:nvSpPr>
          <p:cNvPr id="9" name="nuqta-3"/>
          <p:cNvSpPr/>
          <p:nvPr/>
        </p:nvSpPr>
        <p:spPr>
          <a:xfrm>
            <a:off x="640080" y="4087368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dizayn-sarlavha-3"/>
          <p:cNvSpPr txBox="1"/>
          <p:nvPr/>
        </p:nvSpPr>
        <p:spPr>
          <a:xfrm>
            <a:off x="1097280" y="39776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Silliq harakat</a:t>
            </a:r>
            <a:endParaRPr lang="en-US" sz="2200" dirty="0"/>
          </a:p>
        </p:txBody>
      </p:sp>
      <p:sp>
        <p:nvSpPr>
          <p:cNvPr id="11" name="dizayn-matn-3"/>
          <p:cNvSpPr txBox="1"/>
          <p:nvPr/>
        </p:nvSpPr>
        <p:spPr>
          <a:xfrm>
            <a:off x="1097280" y="44531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Yumshoq scroll va sahifalar orasida prujinali o'tish</a:t>
            </a:r>
            <a:endParaRPr lang="en-US" sz="1600" dirty="0"/>
          </a:p>
        </p:txBody>
      </p:sp>
      <p:sp>
        <p:nvSpPr>
          <p:cNvPr id="12" name="nuqta-4"/>
          <p:cNvSpPr/>
          <p:nvPr/>
        </p:nvSpPr>
        <p:spPr>
          <a:xfrm>
            <a:off x="640080" y="5276088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dizayn-sarlavha-4"/>
          <p:cNvSpPr txBox="1"/>
          <p:nvPr/>
        </p:nvSpPr>
        <p:spPr>
          <a:xfrm>
            <a:off x="1097280" y="51663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Kattalar uchun</a:t>
            </a:r>
            <a:endParaRPr lang="en-US" sz="2200" dirty="0"/>
          </a:p>
        </p:txBody>
      </p:sp>
      <p:sp>
        <p:nvSpPr>
          <p:cNvPr id="14" name="dizayn-matn-4"/>
          <p:cNvSpPr txBox="1"/>
          <p:nvPr/>
        </p:nvSpPr>
        <p:spPr>
          <a:xfrm>
            <a:off x="1097280" y="564184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Lotin va kirill yozuvi, katta matn</a:t>
            </a:r>
            <a:endParaRPr lang="en-US" sz="1600" dirty="0"/>
          </a:p>
        </p:txBody>
      </p:sp>
      <p:pic>
        <p:nvPicPr>
          <p:cNvPr id="15" name="kadr-vaqtlar" descr="Namoz vaqtlari ekran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280160"/>
            <a:ext cx="2779776" cy="4937760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pic>
      <p:pic>
        <p:nvPicPr>
          <p:cNvPr id="16" name="kadr-eslatma" descr="Yumshoq eslatma ekran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1280160"/>
            <a:ext cx="2779776" cy="4937760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pic>
      <p:sp>
        <p:nvSpPr>
          <p:cNvPr id="999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8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" presetClass="entr" presetSubtype="8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8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9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9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9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9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2"/>
                </a:solidFill>
              </a:rPr>
              <a:t>Ishonchli va xavfsiz</a:t>
            </a:r>
            <a:endParaRPr lang="en-US" sz="3800" dirty="0"/>
          </a:p>
        </p:txBody>
      </p:sp>
      <p:sp>
        <p:nvSpPr>
          <p:cNvPr id="3" name="ishonch-karta-1"/>
          <p:cNvSpPr/>
          <p:nvPr/>
        </p:nvSpPr>
        <p:spPr>
          <a:xfrm>
            <a:off x="640080" y="1737360"/>
            <a:ext cx="3383280" cy="4023360"/>
          </a:xfrm>
          <a:prstGeom prst="roundRect">
            <a:avLst>
              <a:gd name="adj" fmla="val 4865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4" name="ishonch-1-doira"/>
          <p:cNvSpPr/>
          <p:nvPr/>
        </p:nvSpPr>
        <p:spPr>
          <a:xfrm>
            <a:off x="1005840" y="21031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shonch-1-ikonka" descr="ishonch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331720"/>
            <a:ext cx="457200" cy="457200"/>
          </a:xfrm>
          <a:prstGeom prst="rect">
            <a:avLst/>
          </a:prstGeom>
        </p:spPr>
      </p:pic>
      <p:sp>
        <p:nvSpPr>
          <p:cNvPr id="6" name="ishonch-sarlavha-1"/>
          <p:cNvSpPr txBox="1"/>
          <p:nvPr/>
        </p:nvSpPr>
        <p:spPr>
          <a:xfrm>
            <a:off x="1005840" y="3291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Maxfiylik</a:t>
            </a:r>
            <a:endParaRPr lang="en-US" sz="2200" dirty="0"/>
          </a:p>
        </p:txBody>
      </p:sp>
      <p:sp>
        <p:nvSpPr>
          <p:cNvPr id="7" name="ishonch-matn-1"/>
          <p:cNvSpPr txBox="1"/>
          <p:nvPr/>
        </p:nvSpPr>
        <p:spPr>
          <a:xfrm>
            <a:off x="1005840" y="3931920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Faqat ism, jins va joylashuv so'raladi. Keraksiz shaxsiy ma'lumot yig'ilmaydi, tarix telefoningizda saqlanadi.</a:t>
            </a:r>
            <a:endParaRPr lang="en-US" sz="1600" dirty="0"/>
          </a:p>
        </p:txBody>
      </p:sp>
      <p:sp>
        <p:nvSpPr>
          <p:cNvPr id="8" name="ishonch-karta-2"/>
          <p:cNvSpPr/>
          <p:nvPr/>
        </p:nvSpPr>
        <p:spPr>
          <a:xfrm>
            <a:off x="4389120" y="1737360"/>
            <a:ext cx="3383280" cy="4023360"/>
          </a:xfrm>
          <a:prstGeom prst="roundRect">
            <a:avLst>
              <a:gd name="adj" fmla="val 4865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9" name="ishonch-2-doira"/>
          <p:cNvSpPr/>
          <p:nvPr/>
        </p:nvSpPr>
        <p:spPr>
          <a:xfrm>
            <a:off x="4754880" y="21031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shonch-2-ikonka" descr="ishonch-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331720"/>
            <a:ext cx="457200" cy="457200"/>
          </a:xfrm>
          <a:prstGeom prst="rect">
            <a:avLst/>
          </a:prstGeom>
        </p:spPr>
      </p:pic>
      <p:sp>
        <p:nvSpPr>
          <p:cNvPr id="11" name="ishonch-sarlavha-2"/>
          <p:cNvSpPr txBox="1"/>
          <p:nvPr/>
        </p:nvSpPr>
        <p:spPr>
          <a:xfrm>
            <a:off x="4754880" y="3291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Xavfsiz yangilanish</a:t>
            </a:r>
            <a:endParaRPr lang="en-US" sz="2200" dirty="0"/>
          </a:p>
        </p:txBody>
      </p:sp>
      <p:sp>
        <p:nvSpPr>
          <p:cNvPr id="12" name="ishonch-matn-2"/>
          <p:cNvSpPr txBox="1"/>
          <p:nvPr/>
        </p:nvSpPr>
        <p:spPr>
          <a:xfrm>
            <a:off x="4754880" y="3931920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Yangi versiya faqat sizning roziligingiz bilan o'rnatiladi va imzosi tekshiriladi.</a:t>
            </a:r>
            <a:endParaRPr lang="en-US" sz="1600" dirty="0"/>
          </a:p>
        </p:txBody>
      </p:sp>
      <p:sp>
        <p:nvSpPr>
          <p:cNvPr id="13" name="ishonch-karta-3"/>
          <p:cNvSpPr/>
          <p:nvPr/>
        </p:nvSpPr>
        <p:spPr>
          <a:xfrm>
            <a:off x="8138160" y="1737360"/>
            <a:ext cx="3383280" cy="4023360"/>
          </a:xfrm>
          <a:prstGeom prst="roundRect">
            <a:avLst>
              <a:gd name="adj" fmla="val 4865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14" name="ishonch-3-doira"/>
          <p:cNvSpPr/>
          <p:nvPr/>
        </p:nvSpPr>
        <p:spPr>
          <a:xfrm>
            <a:off x="8503920" y="21031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shonch-3-ikonka" descr="ishonch-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2331720"/>
            <a:ext cx="457200" cy="457200"/>
          </a:xfrm>
          <a:prstGeom prst="rect">
            <a:avLst/>
          </a:prstGeom>
        </p:spPr>
      </p:pic>
      <p:sp>
        <p:nvSpPr>
          <p:cNvPr id="16" name="ishonch-sarlavha-3"/>
          <p:cNvSpPr txBox="1"/>
          <p:nvPr/>
        </p:nvSpPr>
        <p:spPr>
          <a:xfrm>
            <a:off x="8503920" y="3291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Internetsiz ham ishlaydi</a:t>
            </a:r>
            <a:endParaRPr lang="en-US" sz="2200" dirty="0"/>
          </a:p>
        </p:txBody>
      </p:sp>
      <p:sp>
        <p:nvSpPr>
          <p:cNvPr id="17" name="ishonch-matn-3"/>
          <p:cNvSpPr txBox="1"/>
          <p:nvPr/>
        </p:nvSpPr>
        <p:spPr>
          <a:xfrm>
            <a:off x="8503920" y="3931920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Saqlangan vaqtlar va telefondagi hisob bilan eslatmalar internet bo'lmaganda ham keladi.</a:t>
            </a:r>
            <a:endParaRPr lang="en-US" sz="1600" dirty="0"/>
          </a:p>
        </p:txBody>
      </p:sp>
      <p:sp>
        <p:nvSpPr>
          <p:cNvPr id="999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2"/>
                </a:solidFill>
              </a:rPr>
              <a:t>Yuklab oling</a:t>
            </a:r>
            <a:endParaRPr lang="en-US" sz="3800" dirty="0"/>
          </a:p>
        </p:txBody>
      </p:sp>
      <p:sp>
        <p:nvSpPr>
          <p:cNvPr id="3" name="bepul"/>
          <p:cNvSpPr txBox="1"/>
          <p:nvPr/>
        </p:nvSpPr>
        <p:spPr>
          <a:xfrm>
            <a:off x="640080" y="16459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accent3"/>
                </a:solidFill>
              </a:rPr>
              <a:t>Bepul · Android 8.0 va yuqori</a:t>
            </a:r>
            <a:endParaRPr lang="en-US" sz="2400" dirty="0"/>
          </a:p>
        </p:txBody>
      </p:sp>
      <p:sp>
        <p:nvSpPr>
          <p:cNvPr id="4" name="havola-karta"/>
          <p:cNvSpPr/>
          <p:nvPr/>
        </p:nvSpPr>
        <p:spPr>
          <a:xfrm>
            <a:off x="640080" y="2468880"/>
            <a:ext cx="6583680" cy="13716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pic>
        <p:nvPicPr>
          <p:cNvPr id="5" name="github-ikonka" descr="GitHu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880360"/>
            <a:ext cx="548640" cy="548640"/>
          </a:xfrm>
          <a:prstGeom prst="rect">
            <a:avLst/>
          </a:prstGeom>
        </p:spPr>
      </p:pic>
      <p:sp>
        <p:nvSpPr>
          <p:cNvPr id="6" name="havola"/>
          <p:cNvSpPr txBox="1"/>
          <p:nvPr/>
        </p:nvSpPr>
        <p:spPr>
          <a:xfrm>
            <a:off x="1691640" y="260604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github.com/shokrirov1013/Nomoz-Vaqtlarim</a:t>
            </a:r>
            <a:endParaRPr lang="en-US" sz="2000" dirty="0"/>
          </a:p>
        </p:txBody>
      </p:sp>
      <p:sp>
        <p:nvSpPr>
          <p:cNvPr id="7" name="havola-izoh"/>
          <p:cNvSpPr txBox="1"/>
          <p:nvPr/>
        </p:nvSpPr>
        <p:spPr>
          <a:xfrm>
            <a:off x="1691640" y="32004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Releases bo'limidan eng so'nggi APK ni oling</a:t>
            </a:r>
            <a:endParaRPr lang="en-US" sz="1600" dirty="0"/>
          </a:p>
        </p:txBody>
      </p:sp>
      <p:sp>
        <p:nvSpPr>
          <p:cNvPr id="8" name="muallif-karta"/>
          <p:cNvSpPr/>
          <p:nvPr/>
        </p:nvSpPr>
        <p:spPr>
          <a:xfrm>
            <a:off x="640080" y="4206240"/>
            <a:ext cx="6583680" cy="1737360"/>
          </a:xfrm>
          <a:prstGeom prst="roundRect">
            <a:avLst>
              <a:gd name="adj" fmla="val 9474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sp>
        <p:nvSpPr>
          <p:cNvPr id="9" name="muallif-doira"/>
          <p:cNvSpPr/>
          <p:nvPr/>
        </p:nvSpPr>
        <p:spPr>
          <a:xfrm>
            <a:off x="914400" y="452628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muallif-ikonka" descr="muall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710" y="4720590"/>
            <a:ext cx="388620" cy="388620"/>
          </a:xfrm>
          <a:prstGeom prst="rect">
            <a:avLst/>
          </a:prstGeom>
        </p:spPr>
      </p:pic>
      <p:sp>
        <p:nvSpPr>
          <p:cNvPr id="11" name="muallif-matn"/>
          <p:cNvSpPr txBox="1"/>
          <p:nvPr/>
        </p:nvSpPr>
        <p:spPr>
          <a:xfrm>
            <a:off x="1920240" y="43434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Shokirov tomonidan yaratilgan. 18 yoshli talaba o'z istaklari yo'lida ishlab chiqqan ilova.</a:t>
            </a:r>
            <a:endParaRPr lang="en-US" sz="1800" dirty="0"/>
          </a:p>
        </p:txBody>
      </p:sp>
      <p:sp>
        <p:nvSpPr>
          <p:cNvPr id="12" name="qr-karta"/>
          <p:cNvSpPr/>
          <p:nvPr/>
        </p:nvSpPr>
        <p:spPr>
          <a:xfrm>
            <a:off x="7863840" y="1737360"/>
            <a:ext cx="3657600" cy="42062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254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0000"/>
              </a:srgbClr>
            </a:outerShdw>
          </a:effectLst>
        </p:spPr>
      </p:sp>
      <p:pic>
        <p:nvPicPr>
          <p:cNvPr id="13" name="qr-kod" descr="Yuklab olish sahifasiga QR ko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2011680"/>
            <a:ext cx="3017520" cy="3017520"/>
          </a:xfrm>
          <a:prstGeom prst="rect">
            <a:avLst/>
          </a:prstGeom>
        </p:spPr>
      </p:pic>
      <p:sp>
        <p:nvSpPr>
          <p:cNvPr id="14" name="qr-izoh"/>
          <p:cNvSpPr txBox="1"/>
          <p:nvPr/>
        </p:nvSpPr>
        <p:spPr>
          <a:xfrm>
            <a:off x="8001000" y="51663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Telefon kamerasi bilan skanerlang</a:t>
            </a:r>
            <a:endParaRPr lang="en-US" sz="1500" dirty="0"/>
          </a:p>
        </p:txBody>
      </p:sp>
      <p:sp>
        <p:nvSpPr>
          <p:cNvPr id="999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8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8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8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4" grpId="0" animBg="1"/>
    </p:bldLst>
  </p:timing>
</p:sld>
</file>

<file path=ppt/theme/theme1.xml><?xml version="1.0" encoding="utf-8"?>
<a:theme xmlns:a="http://schemas.openxmlformats.org/drawingml/2006/main" name="Namoz Zumrad">
  <a:themeElements>
    <a:clrScheme name="Namoz Zumrad">
      <a:dk1>
        <a:srgbClr val="06231F"/>
      </a:dk1>
      <a:lt1>
        <a:srgbClr val="FFFFFF"/>
      </a:lt1>
      <a:dk2>
        <a:srgbClr val="0B3B34"/>
      </a:dk2>
      <a:lt2>
        <a:srgbClr val="F3EFE3"/>
      </a:lt2>
      <a:accent1>
        <a:srgbClr val="E3BC6A"/>
      </a:accent1>
      <a:accent2>
        <a:srgbClr val="2FB38F"/>
      </a:accent2>
      <a:accent3>
        <a:srgbClr val="8FD6C0"/>
      </a:accent3>
      <a:accent4>
        <a:srgbClr val="C9973F"/>
      </a:accent4>
      <a:accent5>
        <a:srgbClr val="1E6F5E"/>
      </a:accent5>
      <a:accent6>
        <a:srgbClr val="F1D58C"/>
      </a:accent6>
      <a:hlink>
        <a:srgbClr val="F1D58C"/>
      </a:hlink>
      <a:folHlink>
        <a:srgbClr val="8FD6C0"/>
      </a:folHlink>
    </a:clrScheme>
    <a:fontScheme name="Namoz Zumra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Namoz Vaqtlarim</dc:title>
  <dc:subject>PptxGenJS Presentation</dc:subject>
  <dc:creator>Shokirov</dc:creator>
  <cp:lastModifiedBy>Shokirov</cp:lastModifiedBy>
  <cp:revision>1</cp:revision>
  <dcterms:created xsi:type="dcterms:W3CDTF">2026-10-17T21:21:39Z</dcterms:created>
  <dcterms:modified xsi:type="dcterms:W3CDTF">2026-10-17T21:21:39Z</dcterms:modified>
</cp:coreProperties>
</file>